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ACCENTURE INNOVATION CHALLENGE 2026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DigitalTwin.ai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Spatio-Temporal Graph Intelligence</a:t>
            </a:r>
            <a:br/>
            <a:r>
              <a:t>for Vehicle Assembly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914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Detailed Business Proposal</a:t>
            </a:r>
            <a:br/>
            <a:r>
              <a:t>Prepared by Piyush Maji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Assembly lines are tightly coupled networks — but monitored as isolated stations.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Mixed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40% legacy stations with</a:t>
            </a:r>
            <a:br/>
            <a:r>
              <a:t>partial or no sensors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Multi-Causal Defects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Equipment wear, operator</a:t>
            </a:r>
            <a:br/>
            <a:r>
              <a:t>variation,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20116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Propagation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Defects introduced early</a:t>
            </a:r>
            <a:br/>
            <a:r>
              <a:t>surface late downstream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828800"/>
            <a:ext cx="20116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Production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59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PLC changes only during</a:t>
            </a:r>
            <a:br/>
            <a:r>
              <a:t>maintenance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Calibri"/>
              </a:defRPr>
            </a:pPr>
            <a:r>
              <a:t>Stakeholder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4688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One dashboard fails</a:t>
            </a:r>
            <a:br/>
            <a:r>
              <a:t>all user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10972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2400E"/>
                </a:solidFill>
                <a:latin typeface="Calibri"/>
              </a:defRPr>
            </a:pPr>
            <a:r>
              <a:t>💰  Industry cost of status quo: $50K-$200K/hr in unplanned downtime · $8M-$15M/yr in rework · Total addressable waste: $15M-$25M per plant per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Our Solution: DigitalTwin.ai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Model the assembly line as a dynamic graph — predict problems before they cascade.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Predictive 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GATv2 + GRU forecasts</a:t>
            </a:r>
            <a:br/>
            <a:r>
              <a:t>queue build-ups and defect</a:t>
            </a:r>
            <a:br/>
            <a:r>
              <a:t>risk across downstream stations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114800"/>
            <a:ext cx="201168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3308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10-15 min advance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5603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Virtual Sensing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Masked-node GNN infers state</a:t>
            </a:r>
            <a:br/>
            <a:r>
              <a:t>at under-instrumented stations</a:t>
            </a:r>
            <a:br/>
            <a:r>
              <a:t>via neighbor aggregation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114800"/>
            <a:ext cx="201168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413308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40-60% sensor HW savings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5603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What-If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Test interventions virtually</a:t>
            </a:r>
            <a:br/>
            <a:r>
              <a:t>before execution (maintenance,</a:t>
            </a:r>
            <a:br/>
            <a:r>
              <a:t>rerouting, takt changes)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201168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13308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De-risk decisions safely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737360"/>
            <a:ext cx="25603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Multi-Stakeholder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31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Floor supervisor, plant manager,</a:t>
            </a:r>
            <a:br/>
            <a:r>
              <a:t>leadership views from the</a:t>
            </a:r>
            <a:br/>
            <a:r>
              <a:t>same underlying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114800"/>
            <a:ext cx="201168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413308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Drive adoption at all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Graph-Based Assembly Line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64592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164592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051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914400"/>
            <a:ext cx="164592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051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Zones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164592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51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Features/Node</a:t>
            </a:r>
          </a:p>
        </p:txBody>
      </p:sp>
      <p:pic>
        <p:nvPicPr>
          <p:cNvPr id="15" name="Picture 14" descr="01_assembly_graph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Node color = defect risk (green/amber/red) · Node label = predicted queue · Blue = material flow · Pink dashed = QC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ST-GNN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 stacked Spatio-Temporal blocks · GATv2 (4 heads) + GRU · 438K parameters · 5 prediction heads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Spatial: GATv2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4 attention heads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Learns asymmetric influence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Attention → root-cause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Self-loops + residuals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47472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Temporal: GRU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Per-node GRU cell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Shift dynamics (ramp, breaks)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Progressive anomaly tracking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Hidden state carries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74720" cy="2286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Masked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Random feature masking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Forces neighbor inference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Enables virtual sensing</a:t>
            </a:r>
          </a:p>
          <a:p>
            <a:pPr>
              <a:spcAft>
                <a:spcPts val="36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Confidence head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Five Prediction Heads: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Queue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Per-node regression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75488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Defect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3-class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75488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Virtual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Feature reconstruction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475488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Anomaly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Binary probability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75488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Calibri"/>
              </a:defRPr>
            </a:pPr>
            <a:r>
              <a:t>Root-Cause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Attention 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Spatio-Temporal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Queue forecasting, defect risk propagation, anomaly detection, and scenario tracking across 30 simulation steps.</a:t>
            </a:r>
          </a:p>
        </p:txBody>
      </p:sp>
      <p:pic>
        <p:nvPicPr>
          <p:cNvPr id="4" name="Picture 3" descr="02_tempor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Multi-Causal Anomaly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5 realistic scenarios demonstrating equipment wear, environmental, operator, and supply chain anomalies with cascade propagation.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Weld Gun Electrode 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Equipment Wear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Stations: Spot Weld Cell 3 (legacy)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Onset: 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Paint Booth Humidity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Environmental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Stations: Color Booth, Clear Coat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Onset: Step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Stamping Die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Equipment Wear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49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Stations: Stamping Press B (legacy)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Onset: Step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Shift Change Operator 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Stations: Manual trim stations 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Onset: Step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Upstream Part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Stations: Adhesive Bonding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Onset: Step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Virtual Sensing for Legacy Equipment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FULL Instrumented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PARTIAL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MANUAL Only</a:t>
            </a:r>
          </a:p>
        </p:txBody>
      </p:sp>
      <p:pic>
        <p:nvPicPr>
          <p:cNvPr id="12" name="Picture 11" descr="03_virtual_sen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1161288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stations: 0.96 confidence · PARTIAL: 0.71 · MANUAL: 0.41 (flagged for manual inspection)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Multi-Stakeholder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Three purpose-built views from the same underlying model — driving adoption at every organizational level.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🔧 Floor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Live assembly graph (40 stations)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Prioritized active alerts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Station status matrix (sortable)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Virtual sensing confidence panel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Per-station risk + queue + anomaly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📊 Plant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Shift Planning &amp;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6 shift-level KPIs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Risk heatmap (station × time)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Bottleneck frequency ranking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What-If simulation engine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Anomaly scenario tracker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💼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Business Case &amp;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ROI projection cards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Live model validation metrics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Multi-plant rollout plan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Implementation roadmap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Technical architecture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Non-Disruptive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73152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✅  Zero modification to existing PLCs or line control logic. Read-only overlay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2011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Modern Equipment (60%)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Protocol: OPC-UA / MQTT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Coverage: All 12 features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Integration: Direct connection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Latency: &lt;100ms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2011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Calibri"/>
              </a:defRPr>
            </a:pPr>
            <a:r>
              <a:t>Legacy Equipment (40%)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Protocol: Serial / 4-20mA analog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Coverage: 3-8 features (rest via GNN)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Integration: Edge gateway + translation</a:t>
            </a:r>
          </a:p>
          <a:p>
            <a:pPr>
              <a:spcAft>
                <a:spcPts val="479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Install: Maintenance windows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Data Pipeline: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8288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Calibri"/>
              </a:defRPr>
            </a:pPr>
            <a:r>
              <a:t>PLCs / Edge</a:t>
            </a:r>
            <a:br/>
            <a:r>
              <a:t>Gateways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029200"/>
            <a:ext cx="18288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5074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Calibri"/>
              </a:defRPr>
            </a:pPr>
            <a:r>
              <a:t>Apache</a:t>
            </a:r>
            <a:br/>
            <a: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029200"/>
            <a:ext cx="18288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5074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Calibri"/>
              </a:defRPr>
            </a:pPr>
            <a:r>
              <a:t>TimescaleDB</a:t>
            </a:r>
            <a:br/>
            <a: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5029200"/>
            <a:ext cx="18288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5074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Calibri"/>
              </a:defRPr>
            </a:pPr>
            <a:r>
              <a:t>GNN Inference</a:t>
            </a:r>
            <a:br/>
            <a:r>
              <a:t>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5029200"/>
            <a:ext cx="18288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5074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Calibri"/>
              </a:defRPr>
            </a:pPr>
            <a:r>
              <a:t>WebSocket</a:t>
            </a:r>
            <a:br/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Business Case &amp;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01168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30-45%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Downtime</a:t>
            </a:r>
            <a:br/>
            <a:r>
              <a:t>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201168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$2.8M+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Annual Rework</a:t>
            </a:r>
            <a:br/>
            <a:r>
              <a:t>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097280"/>
            <a:ext cx="201168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12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Bottleneck</a:t>
            </a:r>
            <a:br/>
            <a:r>
              <a:t>Lead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097280"/>
            <a:ext cx="201168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Sensor HW</a:t>
            </a:r>
            <a:br/>
            <a:r>
              <a:t>Savings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097280"/>
            <a:ext cx="201168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6-9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Pilot</a:t>
            </a:r>
            <a:br/>
            <a:r>
              <a:t>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Annual Savings Breakdown (Per Plant)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Unplanned Downtime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$5M-$10M/yr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30-45%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$1.5M-$4.5M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4048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Rework &amp; Scrap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$8M-$15M/yr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25-35%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$2.0M-$5.3M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Sensor 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$500K-$1M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Virtual sensing covers 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$200K-$600K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2064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12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Quality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$1M-$2M/yr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Root-cause 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2120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$300K-$800K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Model Validation &amp;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91.3%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95.5%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914400"/>
            <a:ext cx="20116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False Alarm Rate</a:t>
            </a:r>
          </a:p>
        </p:txBody>
      </p:sp>
      <p:pic>
        <p:nvPicPr>
          <p:cNvPr id="15" name="Picture 14" descr="04_valid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11612880" cy="36576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2400E"/>
                </a:solidFill>
                <a:latin typeface="Calibri"/>
              </a:defRPr>
            </a:pPr>
            <a:r>
              <a:t>⚠️  Trust strategy: Confidence scoring prevents blind trust · Tunable thresholds per station · Live validation dashboard shows ongoing accuracy against ground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Phased 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13716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Phase 1 —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Q1-Q2 2027  ·  $150K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Single line, 40 stations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Edge gateways for legacy equipment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Core prediction + virtual sensing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Floor Supervisor dashboard (one shift)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59" y="13716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Phase 2 — Single 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Q3-Q4 2027  ·  $400K cumul.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All lines in pilot plant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What-If simulation enabled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All-shift dashboard rollout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CMMS integration for work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137160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Phase 3 — 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2028+  ·  $1.2M cumul.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Multi-plant federation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Cross-plant benchmarking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Automated interventions (RL)</a:t>
            </a:r>
          </a:p>
          <a:p>
            <a:pPr>
              <a:spcAft>
                <a:spcPts val="66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MES/ERP closed-loop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Risks &amp;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65836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False alarms eroding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07007"/>
            <a:ext cx="6400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0700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7043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Confidence scoring, tunable thresholds, live validation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47088"/>
            <a:ext cx="10698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Legacy equipment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56816"/>
            <a:ext cx="640080" cy="3200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9568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202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Edge gateways + protocol translation; virtual sensing covers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96896"/>
            <a:ext cx="10698480" cy="65836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Data quality (manual stations)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706624"/>
            <a:ext cx="6400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06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7004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Masked-node GNN training; low-confidence flagging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46704"/>
            <a:ext cx="10698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9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Production disruption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456432"/>
            <a:ext cx="640080" cy="3200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1985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Read-only data taps; overlay architecture; maintenance-window-only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96511"/>
            <a:ext cx="10698480" cy="65836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Model drift over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06240"/>
            <a:ext cx="640080" cy="3200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69663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Continuous validation; automated retraining when F1 drops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10698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19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Organizational resistance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956048"/>
            <a:ext cx="640080" cy="3200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956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91947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Stakeholder-specific views; gradual rollout; pilot-first approach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96128"/>
            <a:ext cx="10698480" cy="658368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Cybersecurity (OT-IT)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5705856"/>
            <a:ext cx="640080" cy="3200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70585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6692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Data diode architecture; no PLC write-back; network 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Scalability &amp; Generalization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16459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Stations/Line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Calibri"/>
              </a:defRPr>
            </a:pPr>
            <a:r>
              <a:t>40 → 100+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Hierarchical graph pooling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88720"/>
            <a:ext cx="2560320" cy="16459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Lines/Plant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Calibri"/>
              </a:defRPr>
            </a:pPr>
            <a:r>
              <a:t>1 → 5-10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Shared backbone + fine-tuning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560320" cy="16459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Calibri"/>
              </a:defRPr>
            </a:pPr>
            <a:r>
              <a:t>1 → 10+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Graph-of-graphs federation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188720"/>
            <a:ext cx="2560320" cy="16459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Calibri"/>
              </a:defRPr>
            </a:pPr>
            <a:r>
              <a:t>~50ms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ONNX + TensorRT → &lt;20ms GPU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Industry Generalization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Aerospace Assembly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Longer cycles, stricter QC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Low effort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Electronics / PCB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Parallel lines, high throughput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97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Pharmaceutical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Batch processes, 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937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86400"/>
            <a:ext cx="106984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Food &amp; Beverage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Hygiene, temperature-critical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Low effort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3657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OPC-UA / MQTT from modern PLCs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Edge gateways for legacy serial/analog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Apache Kafka streaming pipeline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TimescaleDB time-series storage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Virtual sensor gap-filling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188720"/>
            <a:ext cx="3474720" cy="3657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Spatio-Temporal GATv2 + GRU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Masked-node virtual sensing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Multi-head prediction (5 heads)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Root-cause attention extraction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What-If simulation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36576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Multi-stakeholder dashboard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Real-time alerting (floor view)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Planning tools (manager view)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ROI / validation (leadership)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 REST API for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Core Stack: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Python 3.9+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PyTorch 2.0+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PyTorch Geometric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NetworkX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5486400"/>
            <a:ext cx="1645920" cy="4572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55046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3-Year Investment &amp; Return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Year 1</a:t>
            </a:r>
            <a:br/>
            <a:r>
              <a:t>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$150K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Calibri"/>
              </a:defRPr>
            </a:pPr>
            <a:r>
              <a:t>$500K</a:t>
            </a:r>
            <a:br/>
            <a:r>
              <a:t>(partial 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Cumulative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+$350K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188720"/>
            <a:ext cx="3474720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280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Year 2</a:t>
            </a:r>
            <a:br/>
            <a:r>
              <a:t>Single 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$400K</a:t>
            </a:r>
            <a:br/>
            <a:r>
              <a:t>cumulative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Calibri"/>
              </a:defRPr>
            </a:pPr>
            <a:r>
              <a:t>$2.8M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Cumulative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+$2.75M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474720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280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Year 3</a:t>
            </a:r>
            <a:br/>
            <a: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$1.2M</a:t>
            </a:r>
            <a:br/>
            <a:r>
              <a:t>cumulative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74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Calibri"/>
              </a:defRPr>
            </a:pPr>
            <a:r>
              <a:t>$4.5M × N</a:t>
            </a:r>
            <a:br/>
            <a:r>
              <a:t>plants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Cumulative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&gt;10× ROI</a:t>
            </a:r>
            <a:br/>
            <a:r>
              <a:t>at 3+ plants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28600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From reactive firefighting to proactive optimization.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Piyush Maji</a:t>
            </a:r>
            <a:br/>
            <a:r>
              <a:t>Accenture Innovation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